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69" r:id="rId16"/>
    <p:sldId id="270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9" r:id="rId28"/>
    <p:sldId id="290" r:id="rId29"/>
    <p:sldId id="292" r:id="rId30"/>
    <p:sldId id="293" r:id="rId31"/>
    <p:sldId id="294" r:id="rId32"/>
    <p:sldId id="282" r:id="rId33"/>
    <p:sldId id="295" r:id="rId34"/>
    <p:sldId id="283" r:id="rId35"/>
    <p:sldId id="284" r:id="rId36"/>
    <p:sldId id="285" r:id="rId37"/>
    <p:sldId id="286" r:id="rId38"/>
    <p:sldId id="287" r:id="rId39"/>
    <p:sldId id="296" r:id="rId40"/>
    <p:sldId id="297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D4F42-0C38-4E3F-A371-E67F2B2EAE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D75945-DE30-4BDC-B2BF-3E41E233BD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522FF-F8B4-421B-857E-FE73B5778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4F0A6-C388-4CC4-B82E-264F81F7912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02542-E2DD-4F76-AE23-8E64E311D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9CC7B-7931-46A5-A76E-F0CD70A41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7B6C3-BCAD-43D4-98E9-A8A886466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18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27DD8-09AA-4585-82D3-5F307A9D7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5E88A-BA44-4931-B3BB-FE6BD0B33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04A23-7432-4183-ACEE-7191A7038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4F0A6-C388-4CC4-B82E-264F81F7912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0409D-E9FC-47ED-82CB-4345CC717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92A98-E6BA-4B0A-913E-F47AF2AAA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7B6C3-BCAD-43D4-98E9-A8A886466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30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AEFDE-39DB-48A5-B987-2EE7AACF9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5A202-E273-4DD6-A659-D18DE6FCA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895C3-F70C-48E9-8A9F-905309F33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4F0A6-C388-4CC4-B82E-264F81F7912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BA833-C5AA-49D1-BC28-A295ABC5E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07B40-B41C-4EAF-BFC7-072BD2D2D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7B6C3-BCAD-43D4-98E9-A8A886466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008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C201D-6D6E-4F9B-B6EB-C00B8F2CE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DED7F-47E3-4170-BF59-5CF23C1E64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1F2D0-CA39-4A2B-B717-663DDE147C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66281-68DB-4682-8DA8-D24B22F82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4F0A6-C388-4CC4-B82E-264F81F7912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9183-4EA2-46B3-9EC0-92B1F2986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2DCE6-2A61-4A7D-BC81-CFDFF31CE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7B6C3-BCAD-43D4-98E9-A8A886466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13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1261B-28CB-486C-8720-DA48353CC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FA06C-72B3-4F16-A7B9-49A9733B4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3CBEE8-322A-4CF6-B01D-2F999496C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01A407-940D-4879-B6EB-BE072A5368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C03488-EAA0-42E7-BDC8-F2C1FADA3C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7F9D7F-9FA5-4843-9DA9-4BD870E45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4F0A6-C388-4CC4-B82E-264F81F7912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0CB915-84C0-4999-9FF9-5F928C93A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08C500-BBCF-4B15-BC8C-C88A1CFC9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7B6C3-BCAD-43D4-98E9-A8A886466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757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B83C7-150F-4AA4-B40F-963DB07A3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7B2C68-572D-4D72-8FA2-95964D21E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4F0A6-C388-4CC4-B82E-264F81F7912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089CBE-FC62-439A-A739-B30D20A86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BB8E0E-59A6-4CC8-BA58-03E92CCD6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7B6C3-BCAD-43D4-98E9-A8A886466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02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8917E3-8109-4B68-B33E-E1ECFA08D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4F0A6-C388-4CC4-B82E-264F81F7912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E28FC9-372F-46F3-9E37-FF1CA8190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80B9D-0A41-4F12-B364-6887D1C07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7B6C3-BCAD-43D4-98E9-A8A886466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45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9ED02-15E5-44E5-8DCE-013BB1EB6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F8997-55EB-49DE-8848-0717C24F3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AEF8C-69AD-4130-ADE8-30F469383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28181-84BC-4C43-ADFC-E2ADFE56B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4F0A6-C388-4CC4-B82E-264F81F7912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BEB02-F975-4A80-B208-FA3490FA8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3D7FC-9C63-4E74-A6B1-9F59B3FDF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7B6C3-BCAD-43D4-98E9-A8A886466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504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D613F-DF1C-4A21-B659-B6DB6EFDC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9C86AC-4674-4343-9F43-B8044C68E7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28D00-AA6B-4FBE-82A3-6269929F3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63E1B-63EF-4DD9-9C4E-955D395D4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4F0A6-C388-4CC4-B82E-264F81F7912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DE95E-C3CC-45D1-8CDE-BB335ED30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F77E9-CF70-44C0-A494-B7C47055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7B6C3-BCAD-43D4-98E9-A8A886466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96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9C98-C784-4745-8719-A6F765B96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6A42B2-6BFD-465F-B9EA-745FA2BA0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21780-2002-48FB-B686-44674BCE1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4F0A6-C388-4CC4-B82E-264F81F7912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4C6A4-1E46-4731-957A-5A036E87C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06F3F-F260-43A4-98BD-238281761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7B6C3-BCAD-43D4-98E9-A8A886466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990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071D1D-BB3B-40B4-9EA2-48972FBD75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3579E-FDB0-4080-9FEE-5A8813EA37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35D0C-0E9E-4379-8AE7-AF9F2132C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4F0A6-C388-4CC4-B82E-264F81F7912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0C2E0-3BC8-426A-80F4-4C9636885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2C18F-44CA-4FE2-8FF6-CDD312077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7B6C3-BCAD-43D4-98E9-A8A886466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28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F2AA84-49F2-4412-AD51-0B79C687F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CA8FF-9B10-4AAE-ACA9-CA88A342B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ACE40-4C1F-4065-ACD5-E29A1AFE83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4F0A6-C388-4CC4-B82E-264F81F7912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99E92-841E-4A98-A5CD-D93E042915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7F1E2-A7A7-4734-9ED8-C15F6B341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B7B6C3-BCAD-43D4-98E9-A8A886466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62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C1D53-95AC-4689-A9EE-3899C7672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1463" y="1122363"/>
            <a:ext cx="10396537" cy="2387600"/>
          </a:xfrm>
        </p:spPr>
        <p:txBody>
          <a:bodyPr/>
          <a:lstStyle/>
          <a:p>
            <a:r>
              <a:rPr lang="en-US" dirty="0"/>
              <a:t>IT-3016 Simulation and Modelling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169FAE-7D5E-44B1-948A-139B1E9C55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Methodology of Model Building and Simulation</a:t>
            </a:r>
          </a:p>
          <a:p>
            <a:r>
              <a:rPr lang="en-US" dirty="0"/>
              <a:t>Ateeqa Naseer</a:t>
            </a:r>
          </a:p>
        </p:txBody>
      </p:sp>
    </p:spTree>
    <p:extLst>
      <p:ext uri="{BB962C8B-B14F-4D97-AF65-F5344CB8AC3E}">
        <p14:creationId xmlns:p14="http://schemas.microsoft.com/office/powerpoint/2010/main" val="1628380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FA05B-9191-41E5-B4F4-612182CD1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875"/>
            <a:ext cx="10515600" cy="800101"/>
          </a:xfrm>
        </p:spPr>
        <p:txBody>
          <a:bodyPr>
            <a:normAutofit/>
          </a:bodyPr>
          <a:lstStyle/>
          <a:p>
            <a:r>
              <a:rPr lang="en-US" dirty="0"/>
              <a:t>Model 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089D5-36DC-4416-8B91-C89CBF9CB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888" y="1114424"/>
            <a:ext cx="11949112" cy="5743575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6000" dirty="0"/>
              <a:t>Model building is a </a:t>
            </a:r>
            <a:r>
              <a:rPr lang="en-US" sz="6000" b="1" dirty="0"/>
              <a:t>step-by-step process</a:t>
            </a:r>
            <a:r>
              <a:rPr lang="en-US" sz="6000" dirty="0"/>
              <a:t> used to represent a real-world system and analyze it through simulation.</a:t>
            </a:r>
          </a:p>
          <a:p>
            <a:pPr marL="0" indent="0">
              <a:buNone/>
            </a:pPr>
            <a:r>
              <a:rPr lang="en-US" sz="6000" b="1" dirty="0"/>
              <a:t>Step 1: Problem Definition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000" dirty="0"/>
              <a:t>Clearly define the system and 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000" dirty="0"/>
              <a:t>Identify performance measures (e.g., cost, time, efficiency)</a:t>
            </a:r>
          </a:p>
          <a:p>
            <a:pPr marL="0" indent="0">
              <a:buNone/>
            </a:pPr>
            <a:r>
              <a:rPr lang="en-US" sz="6000" b="1" dirty="0"/>
              <a:t>Step 2: System Conceptualization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000" dirty="0"/>
              <a:t>Understand how the system 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000" dirty="0"/>
              <a:t>Identify: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6000" dirty="0"/>
              <a:t>Entities (customers, machines)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6000" dirty="0"/>
              <a:t>Resources (servers, workers)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6000" dirty="0"/>
              <a:t>Activities and flows</a:t>
            </a:r>
          </a:p>
          <a:p>
            <a:pPr marL="0" indent="0">
              <a:buNone/>
            </a:pPr>
            <a:r>
              <a:rPr lang="en-US" sz="6000" b="1" dirty="0"/>
              <a:t>Step 3: Data Collection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000" dirty="0"/>
              <a:t>Gather input data: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6000" dirty="0"/>
              <a:t>Arrival rates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6000" dirty="0"/>
              <a:t>Service times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6000" dirty="0"/>
              <a:t>Probabilities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000" dirty="0"/>
              <a:t>Use statistical analysis if needed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85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0267B-148B-47A9-A58E-2FFF12E2D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871538"/>
          </a:xfrm>
        </p:spPr>
        <p:txBody>
          <a:bodyPr/>
          <a:lstStyle/>
          <a:p>
            <a:r>
              <a:rPr lang="en-US" dirty="0"/>
              <a:t>Model 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78F2D-463F-49A3-8F2D-E088F66CF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1228726"/>
            <a:ext cx="10839450" cy="526414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Step 4: Model Formulation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a </a:t>
            </a:r>
            <a:r>
              <a:rPr lang="en-US" b="1" dirty="0"/>
              <a:t>mathematical or logical model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Common types: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Deterministic vs Stochastic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Static vs Dynamic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Continuous vs Discrete models</a:t>
            </a:r>
          </a:p>
          <a:p>
            <a:pPr marL="0" indent="0">
              <a:buNone/>
            </a:pPr>
            <a:r>
              <a:rPr lang="en-US" b="1" dirty="0"/>
              <a:t>Step 5: Model Translation (Coding)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Convert the model into a simulation program using a language/tool</a:t>
            </a:r>
          </a:p>
          <a:p>
            <a:pPr marL="0" indent="0">
              <a:buNone/>
            </a:pPr>
            <a:r>
              <a:rPr lang="en-US" b="1" dirty="0"/>
              <a:t>Step 6: Verification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Check: Did we build the model correctly?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Debug errors in logic and code</a:t>
            </a:r>
          </a:p>
          <a:p>
            <a:pPr marL="0" indent="0">
              <a:buNone/>
            </a:pPr>
            <a:r>
              <a:rPr lang="en-US" b="1" dirty="0"/>
              <a:t>Step 7: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Check: Did we build the correct model?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Compare with real system behavior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928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D1B21-D9DA-44E5-A43C-132DA502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4EE8A-EBE1-4A0E-A284-45A5DEE0F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788" y="1690688"/>
            <a:ext cx="10768012" cy="44862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Step 8: Experimentation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Run simulations under different scenarios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 “what-if” analysis</a:t>
            </a:r>
          </a:p>
          <a:p>
            <a:pPr marL="0" indent="0">
              <a:buNone/>
            </a:pPr>
            <a:r>
              <a:rPr lang="en-US" b="1" dirty="0"/>
              <a:t>Step 9: Output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Analyze results using statistics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Confidence intervals, averages, variance</a:t>
            </a:r>
          </a:p>
          <a:p>
            <a:pPr marL="0" indent="0">
              <a:buNone/>
            </a:pPr>
            <a:r>
              <a:rPr lang="en-US" b="1" dirty="0"/>
              <a:t>Step 10: Implementation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Apply findings to real-world decisions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350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6A0B4-C7CB-4413-B238-EB79783CD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Simulation Systems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365BD-F600-439A-8742-12B46A7E7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357313"/>
            <a:ext cx="11010900" cy="51355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Simulation systems are tools/software used to build and run models.</a:t>
            </a:r>
          </a:p>
          <a:p>
            <a:r>
              <a:rPr lang="en-US" b="1" dirty="0"/>
              <a:t>Types of Simulation Systems</a:t>
            </a:r>
          </a:p>
          <a:p>
            <a:pPr marL="0" indent="0">
              <a:buNone/>
            </a:pPr>
            <a:r>
              <a:rPr lang="en-US" b="1" dirty="0"/>
              <a:t>1. General-Purpose Simulation Languages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Flexible but require programming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C++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Python</a:t>
            </a:r>
          </a:p>
          <a:p>
            <a:pPr marL="0" indent="0">
              <a:buNone/>
            </a:pPr>
            <a:r>
              <a:rPr lang="en-US" b="1" dirty="0"/>
              <a:t>2. Special-Purpose Simulation 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Designed for specific domains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MATLAB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Simulink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930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1912D-15CB-4A0A-A076-B12DA6884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Simulation Systems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F4F15-0AB2-46A0-B549-620808652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8763"/>
            <a:ext cx="10515600" cy="496411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3. Discrete Event Simulation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for systems like queues, manufacturing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Arena Simulation Software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SimPy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4. Continuous Simulation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Based on differential equations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in physics, engineering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184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C90A-5131-43B5-B996-399164A62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900114"/>
          </a:xfrm>
        </p:spPr>
        <p:txBody>
          <a:bodyPr>
            <a:normAutofit/>
          </a:bodyPr>
          <a:lstStyle/>
          <a:p>
            <a:r>
              <a:rPr lang="en-US" b="1" dirty="0"/>
              <a:t>Simulation Languages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61C3E-27B6-4F57-B705-B4D854243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1371600"/>
            <a:ext cx="11515725" cy="48053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Simulation languages are specialized programming languages or libraries for modeling systems.</a:t>
            </a:r>
          </a:p>
          <a:p>
            <a:pPr marL="0" indent="0">
              <a:buNone/>
            </a:pPr>
            <a:r>
              <a:rPr lang="en-US" b="1" dirty="0"/>
              <a:t>Characteristics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Time-handling capability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Random number generation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Statistical analysis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Event scheduling</a:t>
            </a:r>
          </a:p>
          <a:p>
            <a:pPr marL="0" indent="0">
              <a:buNone/>
            </a:pPr>
            <a:r>
              <a:rPr lang="en-US" b="1" dirty="0"/>
              <a:t>Types</a:t>
            </a:r>
          </a:p>
          <a:p>
            <a:pPr marL="0" indent="0">
              <a:buNone/>
            </a:pPr>
            <a:r>
              <a:rPr lang="en-US" b="1" dirty="0"/>
              <a:t>1. Event-Oriented Languages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 on events changing system state</a:t>
            </a:r>
          </a:p>
          <a:p>
            <a:pPr marL="0" indent="0">
              <a:buNone/>
            </a:pPr>
            <a:r>
              <a:rPr lang="en-US" dirty="0"/>
              <a:t>Example: </a:t>
            </a:r>
            <a:r>
              <a:rPr lang="en-US" dirty="0" err="1"/>
              <a:t>SimPy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330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2856C-2047-4B4C-B97C-978F56D82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Simulation Languages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3FB21-D319-4C34-B6C9-671C155AA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2. Process-Oriented Languages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system as processes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GPSS (General Purpose Simulation System)</a:t>
            </a:r>
          </a:p>
          <a:p>
            <a:pPr marL="0" indent="0">
              <a:buNone/>
            </a:pPr>
            <a:r>
              <a:rPr lang="en-US" b="1" dirty="0"/>
              <a:t>3. Activity-Oriented Languages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 on system activities and delays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916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0DADF-A660-467B-A1F2-F7E7110B6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Key Concepts in Simulation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0B427-F462-407C-A6DC-99A693664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Entity</a:t>
            </a:r>
            <a:r>
              <a:rPr lang="en-US" dirty="0"/>
              <a:t> → Object in the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State Variables</a:t>
            </a:r>
            <a:r>
              <a:rPr lang="en-US" dirty="0"/>
              <a:t> → Describe system status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Events</a:t>
            </a:r>
            <a:r>
              <a:rPr lang="en-US" dirty="0"/>
              <a:t> → Change system state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Queue</a:t>
            </a:r>
            <a:r>
              <a:rPr lang="en-US" dirty="0"/>
              <a:t> → Waiting 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Randomness</a:t>
            </a:r>
            <a:r>
              <a:rPr lang="en-US" dirty="0"/>
              <a:t> → Modeled using probability distributions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151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87648-2A16-45B3-B96D-6575763C9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85037-89DA-48F7-A290-54978E2EB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1763"/>
            <a:ext cx="10515600" cy="3505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b="1" dirty="0"/>
              <a:t>Event Oriented Languages</a:t>
            </a:r>
          </a:p>
        </p:txBody>
      </p:sp>
    </p:spTree>
    <p:extLst>
      <p:ext uri="{BB962C8B-B14F-4D97-AF65-F5344CB8AC3E}">
        <p14:creationId xmlns:p14="http://schemas.microsoft.com/office/powerpoint/2010/main" val="2325433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00689-5604-40B7-8A95-7477794BC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Event Oriented Languages for Simulation</a:t>
            </a:r>
            <a:br>
              <a:rPr lang="en-US" sz="4400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86665-E45D-4ABF-A97E-2AB7D729C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371600"/>
            <a:ext cx="10925175" cy="48053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Event-oriented simulation languages are specialized programming frameworks used to model systems where </a:t>
            </a:r>
            <a:r>
              <a:rPr lang="en-US" b="1" dirty="0"/>
              <a:t>state changes occur at discrete events over time</a:t>
            </a:r>
            <a:r>
              <a:rPr lang="en-US" dirty="0"/>
              <a:t>. These languages are central to </a:t>
            </a:r>
            <a:r>
              <a:rPr lang="en-US" b="1" dirty="0"/>
              <a:t>Discrete Event Simulation (DES)</a:t>
            </a:r>
            <a:r>
              <a:rPr lang="en-US" dirty="0"/>
              <a:t>.</a:t>
            </a:r>
          </a:p>
          <a:p>
            <a:r>
              <a:rPr lang="en-US" dirty="0"/>
              <a:t>In event-oriented modeling: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system is described in terms of </a:t>
            </a:r>
            <a:r>
              <a:rPr lang="en-US" b="1" dirty="0"/>
              <a:t>events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event: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Occurs at a specific time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Changes the system state </a:t>
            </a:r>
          </a:p>
          <a:p>
            <a:pPr marL="0" indent="0">
              <a:buNone/>
            </a:pPr>
            <a:r>
              <a:rPr lang="en-US" b="1" dirty="0"/>
              <a:t>Examples of Events: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arrival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Service completion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Machine breakdown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Packet transmission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695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1F7DF-1D09-419A-A0BF-F01AFC46F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8" y="365126"/>
            <a:ext cx="11053762" cy="877888"/>
          </a:xfrm>
        </p:spPr>
        <p:txBody>
          <a:bodyPr/>
          <a:lstStyle/>
          <a:p>
            <a:r>
              <a:rPr lang="en-US" dirty="0"/>
              <a:t>Characteristics of Event-Oriented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AB57F-142C-4F72-A27C-899EA60B2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3014"/>
            <a:ext cx="10515600" cy="524986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3.1 Event Scheduling Mechanism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Central feature: </a:t>
            </a:r>
            <a:r>
              <a:rPr lang="en-US" b="1" dirty="0"/>
              <a:t>Future Event List (FEL)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Events are stored in chronological order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Simulation clock jumps to next event</a:t>
            </a:r>
          </a:p>
          <a:p>
            <a:pPr marL="0" indent="0">
              <a:buNone/>
            </a:pPr>
            <a:r>
              <a:rPr lang="en-US" b="1" dirty="0"/>
              <a:t>3.2 Time Advancement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Time does not move continuously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advances to the time of the </a:t>
            </a:r>
            <a:r>
              <a:rPr lang="en-US" b="1" dirty="0"/>
              <a:t>next scheduled event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3.3 State-Based Modeling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System state is updated only when events occur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State variables: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Queue length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Server status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Resource availability </a:t>
            </a:r>
          </a:p>
          <a:p>
            <a:pPr marL="0" indent="0">
              <a:buNone/>
            </a:pPr>
            <a:r>
              <a:rPr lang="en-US" b="1" dirty="0"/>
              <a:t>3.4 Modularity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Events are coded as independent modules or functions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maintainability and scalability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251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4B17A-DCE5-40BD-A5F0-291EC642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Event Scheduling Approach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E08BE-C85B-49F1-BBBB-8770C8B01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simulation progresses by maintaining a </a:t>
            </a:r>
            <a:r>
              <a:rPr lang="en-US" b="1" dirty="0"/>
              <a:t>Future Event List (FEL)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Events are sorted by occurrence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next event determines system evolution</a:t>
            </a:r>
          </a:p>
          <a:p>
            <a:pPr marL="0" indent="0">
              <a:buNone/>
            </a:pPr>
            <a:r>
              <a:rPr lang="en-US" b="1" dirty="0"/>
              <a:t>Algorithm Steps:</a:t>
            </a:r>
          </a:p>
          <a:p>
            <a:pPr>
              <a:buFont typeface="+mj-lt"/>
              <a:buAutoNum type="arabicPeriod"/>
            </a:pPr>
            <a:r>
              <a:rPr lang="en-US" dirty="0"/>
              <a:t>Initialize system state</a:t>
            </a:r>
          </a:p>
          <a:p>
            <a:pPr>
              <a:buFont typeface="+mj-lt"/>
              <a:buAutoNum type="arabicPeriod"/>
            </a:pPr>
            <a:r>
              <a:rPr lang="en-US" dirty="0"/>
              <a:t>Schedule initial events</a:t>
            </a:r>
          </a:p>
          <a:p>
            <a:pPr>
              <a:buFont typeface="+mj-lt"/>
              <a:buAutoNum type="arabicPeriod"/>
            </a:pPr>
            <a:r>
              <a:rPr lang="en-US" dirty="0"/>
              <a:t>Advance simulation clock</a:t>
            </a:r>
          </a:p>
          <a:p>
            <a:pPr>
              <a:buFont typeface="+mj-lt"/>
              <a:buAutoNum type="arabicPeriod"/>
            </a:pPr>
            <a:r>
              <a:rPr lang="en-US" dirty="0"/>
              <a:t>Execute next event</a:t>
            </a:r>
          </a:p>
          <a:p>
            <a:pPr>
              <a:buFont typeface="+mj-lt"/>
              <a:buAutoNum type="arabicPeriod"/>
            </a:pPr>
            <a:r>
              <a:rPr lang="en-US" dirty="0"/>
              <a:t>Update system state</a:t>
            </a:r>
          </a:p>
          <a:p>
            <a:pPr>
              <a:buFont typeface="+mj-lt"/>
              <a:buAutoNum type="arabicPeriod"/>
            </a:pPr>
            <a:r>
              <a:rPr lang="en-US" dirty="0"/>
              <a:t>Schedule future events</a:t>
            </a:r>
          </a:p>
          <a:p>
            <a:pPr>
              <a:buFont typeface="+mj-lt"/>
              <a:buAutoNum type="arabicPeriod"/>
            </a:pPr>
            <a:r>
              <a:rPr lang="en-US" dirty="0"/>
              <a:t>Repeat until termination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493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90FE7-D1DA-45A0-BF1D-09C2049BD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Event Scheduling Approach - pseudocode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0813E-E7F4-45C7-A4FD-35B236B0E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28887"/>
            <a:ext cx="10515600" cy="36480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 Initialize clock = 0</a:t>
            </a:r>
            <a:br>
              <a:rPr lang="en-US" dirty="0"/>
            </a:br>
            <a:r>
              <a:rPr lang="en-US" dirty="0"/>
              <a:t>2. Initialize FEL with first event</a:t>
            </a:r>
            <a:br>
              <a:rPr lang="en-US" dirty="0"/>
            </a:br>
            <a:r>
              <a:rPr lang="en-US" dirty="0"/>
              <a:t>3. While simulation not finished:</a:t>
            </a:r>
            <a:br>
              <a:rPr lang="en-US" dirty="0"/>
            </a:br>
            <a:r>
              <a:rPr lang="en-US" dirty="0"/>
              <a:t>a. Remove next event from FEL</a:t>
            </a:r>
            <a:br>
              <a:rPr lang="en-US" dirty="0"/>
            </a:br>
            <a:r>
              <a:rPr lang="en-US" dirty="0"/>
              <a:t>b. Advance clock to event time</a:t>
            </a:r>
            <a:br>
              <a:rPr lang="en-US" dirty="0"/>
            </a:br>
            <a:r>
              <a:rPr lang="en-US" dirty="0"/>
              <a:t>c. Execute event logic</a:t>
            </a:r>
            <a:br>
              <a:rPr lang="en-US" dirty="0"/>
            </a:br>
            <a:r>
              <a:rPr lang="en-US" dirty="0"/>
              <a:t>d. Schedule new events</a:t>
            </a:r>
            <a:br>
              <a:rPr lang="en-US" dirty="0"/>
            </a:br>
            <a:r>
              <a:rPr lang="en-US" dirty="0"/>
              <a:t>4. End simulation</a:t>
            </a:r>
          </a:p>
        </p:txBody>
      </p:sp>
    </p:spTree>
    <p:extLst>
      <p:ext uri="{BB962C8B-B14F-4D97-AF65-F5344CB8AC3E}">
        <p14:creationId xmlns:p14="http://schemas.microsoft.com/office/powerpoint/2010/main" val="3538880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8F2AE-DEAE-4BA5-8815-A1D3FA273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2963"/>
            <a:ext cx="10515600" cy="84772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Time Advance Mechanisms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F7901-5CD9-4D86-98C4-04B5DAB8A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Next-Event Time Advance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Clock jumps to next scheduled event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Efficient and widely used</a:t>
            </a:r>
          </a:p>
          <a:p>
            <a:pPr marL="0" indent="0">
              <a:buNone/>
            </a:pPr>
            <a:r>
              <a:rPr lang="en-US" b="1" dirty="0"/>
              <a:t>2. Fixed Time Increment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Clock advances in fixed steps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Less efficient, may miss events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468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AB01C-3611-4E94-BFD4-82483B01D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Random Number Generation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E8344-87A7-4925-AD27-0FE2EBAD4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Simulation relies on randomness using: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Pseudo-random number generators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Sampling from probability distributions</a:t>
            </a:r>
          </a:p>
          <a:p>
            <a:r>
              <a:rPr lang="en-US" dirty="0"/>
              <a:t>This is grounded in Monte Carlo Method.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945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34674-5E84-4862-B12A-D85D1C189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463" y="681037"/>
            <a:ext cx="11082337" cy="10096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Relationship Between Queuing Models and Discrete Simulation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6ADF9-AD75-48CD-B60F-52543CAE8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825625"/>
            <a:ext cx="10782300" cy="435133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Analytical queuing models provide </a:t>
            </a:r>
            <a:r>
              <a:rPr lang="en-US" b="1" dirty="0"/>
              <a:t>closed-form solutions</a:t>
            </a:r>
            <a:r>
              <a:rPr lang="en-US" dirty="0"/>
              <a:t> under simplifying assumptions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Discrete simulation models provide </a:t>
            </a:r>
            <a:r>
              <a:rPr lang="en-US" b="1" dirty="0"/>
              <a:t>approximate solutions</a:t>
            </a:r>
            <a:r>
              <a:rPr lang="en-US" dirty="0"/>
              <a:t> for complex systems</a:t>
            </a:r>
          </a:p>
          <a:p>
            <a:pPr marL="0" indent="0">
              <a:buNone/>
            </a:pPr>
            <a:r>
              <a:rPr lang="en-US" dirty="0"/>
              <a:t>In practice: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queuing theory for insight and baseline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simulation for detailed, realistic modeling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132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7E61D-AC5C-4DCC-9AB0-2A56EA7FE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Event Oriented Languages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E328A-5B7E-4C11-93AD-2A89C71A4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SIMULA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First simulation-oriented programming language (1960s)</a:t>
            </a:r>
          </a:p>
          <a:p>
            <a:pPr marL="0" indent="0">
              <a:buNone/>
            </a:pPr>
            <a:r>
              <a:rPr lang="en-US" b="1" dirty="0"/>
              <a:t>GPSS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Developed by IBM , Widely used for queueing systems</a:t>
            </a:r>
          </a:p>
          <a:p>
            <a:pPr marL="0" indent="0">
              <a:buNone/>
            </a:pPr>
            <a:r>
              <a:rPr lang="en-US" b="1" dirty="0"/>
              <a:t>SIMSCRIPT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Designed for large-scale simulations</a:t>
            </a:r>
          </a:p>
          <a:p>
            <a:pPr marL="0" indent="0">
              <a:buNone/>
            </a:pPr>
            <a:r>
              <a:rPr lang="en-US" b="1" dirty="0"/>
              <a:t>Arena Simulation 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Modern simulation tool</a:t>
            </a:r>
          </a:p>
          <a:p>
            <a:pPr marL="0" indent="0">
              <a:buNone/>
            </a:pPr>
            <a:r>
              <a:rPr lang="en-US" b="1" dirty="0" err="1"/>
              <a:t>AnyLogic</a:t>
            </a:r>
            <a:r>
              <a:rPr lang="en-US" b="1" dirty="0"/>
              <a:t> </a:t>
            </a:r>
            <a:r>
              <a:rPr lang="en-US" dirty="0"/>
              <a:t>Supports: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Discrete-event simulation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Agent-based modeling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System dynamics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52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CC65D-8AA5-4495-97A1-0E5BFA203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5F1B7-303C-4F47-8B85-DF8D030A8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Computer networks (packet simulation)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Manufacturing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Healthcare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Traffic flow modeling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Cloud computing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652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2AFC6-81CF-46DD-91F6-1070AA85A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Process-Oriented Languages for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3D614-0424-49EA-B588-03F5DF137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690688"/>
            <a:ext cx="10925175" cy="448627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Process-oriented simulation languages are a class of simulation paradigms in which the system is modeled as a set of </a:t>
            </a:r>
            <a:r>
              <a:rPr lang="en-US" b="1" dirty="0"/>
              <a:t>active processes (entities)</a:t>
            </a:r>
            <a:r>
              <a:rPr lang="en-US" dirty="0"/>
              <a:t> that evolve over time.</a:t>
            </a:r>
          </a:p>
          <a:p>
            <a:r>
              <a:rPr lang="en-US" dirty="0"/>
              <a:t>Unlike event-oriented approaches (which focus on events), process-oriented simulation focuses 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life cycle of entities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Their interaction with system resources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sequence of activities they undergo </a:t>
            </a:r>
          </a:p>
          <a:p>
            <a:r>
              <a:rPr lang="en-US" dirty="0"/>
              <a:t>This paradigm is widely used 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Queueing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Manufacturing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Computer networks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Healthcare operations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9916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36580-7D80-4F9F-A02E-DE79CAB9F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Process-Oriented Languages for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325A9-4DF0-4231-B4F0-8BA380350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process</a:t>
            </a:r>
            <a:r>
              <a:rPr lang="en-US" dirty="0"/>
              <a:t> represents the behavior of an entity as it moves through the system.</a:t>
            </a:r>
          </a:p>
          <a:p>
            <a:pPr marL="0" indent="0">
              <a:buNone/>
            </a:pPr>
            <a:r>
              <a:rPr lang="en-US" b="1" dirty="0"/>
              <a:t>Key Idea:</a:t>
            </a:r>
          </a:p>
          <a:p>
            <a:r>
              <a:rPr lang="en-US" dirty="0"/>
              <a:t>Each entity has its own </a:t>
            </a:r>
            <a:r>
              <a:rPr lang="en-US" b="1" dirty="0"/>
              <a:t>process flow</a:t>
            </a:r>
            <a:r>
              <a:rPr lang="en-US" dirty="0"/>
              <a:t>, describing: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Arrival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Waiting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Service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Departure </a:t>
            </a:r>
          </a:p>
          <a:p>
            <a:r>
              <a:rPr lang="en-US" dirty="0"/>
              <a:t>Instead of explicitly managing events, the simulation engine: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Automatically schedules events based on process definitions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167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FF3DD-2049-47B4-B035-43D322501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Process Interaction Mechanism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6BE84-3DA2-4A78-B9B4-296B4CA78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Processes interact through: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Resource allocation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Queueing mechanisms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Synchronization events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customer process waits until: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server becomes free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Then proceeds to service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3085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753DF-0331-447F-90C8-34469B2FD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 Cycle of an Entity (Process Flow)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BFA6C84-DB2A-47F3-A990-38500EF9E0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8625" y="2339301"/>
            <a:ext cx="9358313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Arrival → Queue → Service → Departure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More detailed: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Generate entity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Join queue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Request resource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Get service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Release resource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Exit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5649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1DAD3-23A9-476E-8D29-CF78C5E6E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Simulation Logic (Process-Oriented)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20196-15C8-4B80-9149-FB6E6B8AB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Core Algorithm:</a:t>
            </a:r>
          </a:p>
          <a:p>
            <a:pPr>
              <a:buFont typeface="+mj-lt"/>
              <a:buAutoNum type="arabicPeriod"/>
            </a:pPr>
            <a:r>
              <a:rPr lang="en-US" dirty="0"/>
              <a:t>Initialize system 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initial processes </a:t>
            </a:r>
          </a:p>
          <a:p>
            <a:pPr>
              <a:buFont typeface="+mj-lt"/>
              <a:buAutoNum type="arabicPeriod"/>
            </a:pPr>
            <a:r>
              <a:rPr lang="en-US" dirty="0"/>
              <a:t>Activate processes </a:t>
            </a:r>
          </a:p>
          <a:p>
            <a:pPr>
              <a:buFont typeface="+mj-lt"/>
              <a:buAutoNum type="arabicPeriod"/>
            </a:pPr>
            <a:r>
              <a:rPr lang="en-US" dirty="0"/>
              <a:t>Processes execute step-by-step </a:t>
            </a:r>
          </a:p>
          <a:p>
            <a:pPr>
              <a:buFont typeface="+mj-lt"/>
              <a:buAutoNum type="arabicPeriod"/>
            </a:pPr>
            <a:r>
              <a:rPr lang="en-US" dirty="0"/>
              <a:t>Simulation clock advances automatically </a:t>
            </a:r>
          </a:p>
          <a:p>
            <a:pPr>
              <a:buFont typeface="+mj-lt"/>
              <a:buAutoNum type="arabicPeriod"/>
            </a:pPr>
            <a:r>
              <a:rPr lang="en-US" dirty="0"/>
              <a:t>Terminate simulation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6041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737AA-751B-40BC-A32A-3E19D0766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</a:t>
            </a:r>
            <a:r>
              <a:rPr lang="en-US" b="1" dirty="0"/>
              <a:t> (Process-Oriented)</a:t>
            </a:r>
            <a:r>
              <a:rPr lang="en-US" dirty="0"/>
              <a:t> -Bank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4173C-DA6A-4C7B-A994-FD2D2AB1F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Process Customer:</a:t>
            </a:r>
            <a:br>
              <a:rPr lang="en-US" dirty="0"/>
            </a:br>
            <a:r>
              <a:rPr lang="en-US" dirty="0"/>
              <a:t>arrive at system</a:t>
            </a:r>
            <a:br>
              <a:rPr lang="en-US" dirty="0"/>
            </a:br>
            <a:r>
              <a:rPr lang="en-US" dirty="0"/>
              <a:t>if server busy:</a:t>
            </a:r>
            <a:br>
              <a:rPr lang="en-US" dirty="0"/>
            </a:br>
            <a:r>
              <a:rPr lang="en-US" dirty="0"/>
              <a:t>wait in queue</a:t>
            </a:r>
            <a:br>
              <a:rPr lang="en-US" dirty="0"/>
            </a:br>
            <a:r>
              <a:rPr lang="en-US" dirty="0"/>
              <a:t>seize server</a:t>
            </a:r>
            <a:br>
              <a:rPr lang="en-US" dirty="0"/>
            </a:br>
            <a:r>
              <a:rPr lang="en-US" dirty="0"/>
              <a:t>delay (service time)</a:t>
            </a:r>
            <a:br>
              <a:rPr lang="en-US" dirty="0"/>
            </a:br>
            <a:r>
              <a:rPr lang="en-US" dirty="0"/>
              <a:t>release server</a:t>
            </a:r>
            <a:br>
              <a:rPr lang="en-US" dirty="0"/>
            </a:br>
            <a:r>
              <a:rPr lang="en-US" dirty="0"/>
              <a:t>depart</a:t>
            </a:r>
          </a:p>
        </p:txBody>
      </p:sp>
    </p:spTree>
    <p:extLst>
      <p:ext uri="{BB962C8B-B14F-4D97-AF65-F5344CB8AC3E}">
        <p14:creationId xmlns:p14="http://schemas.microsoft.com/office/powerpoint/2010/main" val="28742300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5B3F2-E72D-4C73-A565-343ADE195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Process-Oriented Simulation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438DF-32B8-49D3-A7BD-46ECFCCC9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as Event Oriented</a:t>
            </a:r>
          </a:p>
        </p:txBody>
      </p:sp>
    </p:spTree>
    <p:extLst>
      <p:ext uri="{BB962C8B-B14F-4D97-AF65-F5344CB8AC3E}">
        <p14:creationId xmlns:p14="http://schemas.microsoft.com/office/powerpoint/2010/main" val="42035595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ED160-A6F5-43F8-AF0F-53F66C1E4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 dirty="0"/>
              <a:t>Activity-Oriented Languages for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B4961-7799-41FC-909C-DCA61267E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38" y="1143000"/>
            <a:ext cx="11658600" cy="547211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Activity-oriented simulation languages represent a modeling paradigm in which a system is described in terms of </a:t>
            </a:r>
            <a:r>
              <a:rPr lang="en-US" b="1" dirty="0"/>
              <a:t>activities</a:t>
            </a:r>
            <a:r>
              <a:rPr lang="en-US" dirty="0"/>
              <a:t>—time-consuming operations that cause changes in the system state.</a:t>
            </a:r>
          </a:p>
          <a:p>
            <a:pPr marL="0" indent="0">
              <a:buNone/>
            </a:pPr>
            <a:r>
              <a:rPr lang="en-US" dirty="0"/>
              <a:t>In this approach: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system evolves through </a:t>
            </a:r>
            <a:r>
              <a:rPr lang="en-US" b="1" dirty="0"/>
              <a:t>activities rather than events or processes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activity has: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start condition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duration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 </a:t>
            </a:r>
            <a:r>
              <a:rPr lang="en-US" b="1" dirty="0"/>
              <a:t>end effect on the system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This paradigm is especially useful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Manufacturing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Project scheduling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Workflow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Systems with clearly defined operational phases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348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D25E0-175D-4A1C-916B-BB102F21D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Activity-Oriented Languages for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DAA74-58D1-41E0-B3DB-5DB1925E3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activity</a:t>
            </a:r>
            <a:r>
              <a:rPr lang="en-US" dirty="0"/>
              <a:t> is defined as an operation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Takes a </a:t>
            </a:r>
            <a:r>
              <a:rPr lang="en-US" b="1" dirty="0"/>
              <a:t>finite amount of time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Changes the system state upon completion </a:t>
            </a:r>
          </a:p>
          <a:p>
            <a:r>
              <a:rPr lang="en-US" b="1" dirty="0"/>
              <a:t>Key Idea:</a:t>
            </a:r>
          </a:p>
          <a:p>
            <a:r>
              <a:rPr lang="en-US" dirty="0"/>
              <a:t>Simulation progresses by: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Identifying </a:t>
            </a:r>
            <a:r>
              <a:rPr lang="en-US" b="1" dirty="0"/>
              <a:t>which activities can start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Executing them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Updating the system after completion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2854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C32F5-531E-4A34-B472-FE9C34E38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Activity Definition</a:t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6F112-E102-4FE2-ACDA-295C189C0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167187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 activity can be formally described 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Activity = (Condition, Duration, State Change)</a:t>
            </a:r>
          </a:p>
          <a:p>
            <a:endParaRPr lang="en-US" b="1" dirty="0"/>
          </a:p>
          <a:p>
            <a:r>
              <a:rPr lang="en-US" b="1" dirty="0"/>
              <a:t>Example (Manufacturing System)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Activity: Machine processing a job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Condition: Machine is free &amp; job available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Duration: Processing time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State Change: Job completed, machine becomes free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4456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03CFB-CD9C-4720-9034-64E8B7AB4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Simulation Logic (Activity-Oriented)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2E29B-9D79-4133-9765-0152B699A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Core Algorithm:</a:t>
            </a:r>
          </a:p>
          <a:p>
            <a:pPr>
              <a:buFont typeface="+mj-lt"/>
              <a:buAutoNum type="arabicPeriod"/>
            </a:pPr>
            <a:r>
              <a:rPr lang="en-US" dirty="0"/>
              <a:t>Initialize system state and time </a:t>
            </a:r>
          </a:p>
          <a:p>
            <a:pPr>
              <a:buFont typeface="+mj-lt"/>
              <a:buAutoNum type="arabicPeriod"/>
            </a:pPr>
            <a:r>
              <a:rPr lang="en-US" dirty="0"/>
              <a:t>Identify all </a:t>
            </a:r>
            <a:r>
              <a:rPr lang="en-US" b="1" dirty="0"/>
              <a:t>feasible activities</a:t>
            </a:r>
            <a:r>
              <a:rPr lang="en-US" dirty="0"/>
              <a:t> </a:t>
            </a:r>
          </a:p>
          <a:p>
            <a:pPr>
              <a:buFont typeface="+mj-lt"/>
              <a:buAutoNum type="arabicPeriod"/>
            </a:pPr>
            <a:r>
              <a:rPr lang="en-US" dirty="0"/>
              <a:t>Select next activity to complete </a:t>
            </a:r>
          </a:p>
          <a:p>
            <a:pPr>
              <a:buFont typeface="+mj-lt"/>
              <a:buAutoNum type="arabicPeriod"/>
            </a:pPr>
            <a:r>
              <a:rPr lang="en-US" dirty="0"/>
              <a:t>Advance simulation clock </a:t>
            </a:r>
          </a:p>
          <a:p>
            <a:pPr>
              <a:buFont typeface="+mj-lt"/>
              <a:buAutoNum type="arabicPeriod"/>
            </a:pPr>
            <a:r>
              <a:rPr lang="en-US" dirty="0"/>
              <a:t>Update system state </a:t>
            </a:r>
          </a:p>
          <a:p>
            <a:pPr>
              <a:buFont typeface="+mj-lt"/>
              <a:buAutoNum type="arabicPeriod"/>
            </a:pPr>
            <a:r>
              <a:rPr lang="en-US" dirty="0"/>
              <a:t>Re-evaluate activity conditions </a:t>
            </a:r>
          </a:p>
          <a:p>
            <a:pPr>
              <a:buFont typeface="+mj-lt"/>
              <a:buAutoNum type="arabicPeriod"/>
            </a:pPr>
            <a:r>
              <a:rPr lang="en-US" dirty="0"/>
              <a:t>Repeat until termination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8776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ACB79-16F3-4129-B59B-79779A12C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Pseudocode</a:t>
            </a:r>
            <a:r>
              <a:rPr lang="en-US" sz="4000" dirty="0">
                <a:latin typeface="+mn-lt"/>
              </a:rPr>
              <a:t>(Activity-Oriented)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C15735-08EA-458E-BD4F-B2EFC0C049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4364" y="2229454"/>
            <a:ext cx="1073943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Initialize system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While simulation not finished: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Identify feasible activities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Select next activity to complete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Advance time to completion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Update system state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Enable/disable activities based on new state</a:t>
            </a:r>
          </a:p>
        </p:txBody>
      </p:sp>
    </p:spTree>
    <p:extLst>
      <p:ext uri="{BB962C8B-B14F-4D97-AF65-F5344CB8AC3E}">
        <p14:creationId xmlns:p14="http://schemas.microsoft.com/office/powerpoint/2010/main" val="40430910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7A875-528E-42D0-9FE3-09AA0587D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85739"/>
            <a:ext cx="11506200" cy="1504950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Comparison: </a:t>
            </a:r>
            <a:br>
              <a:rPr lang="en-US" dirty="0"/>
            </a:br>
            <a:r>
              <a:rPr lang="en-US" dirty="0"/>
              <a:t>Process-Oriented vs Event-Oriented Simulation vs </a:t>
            </a:r>
            <a:br>
              <a:rPr lang="en-US" dirty="0"/>
            </a:br>
            <a:r>
              <a:rPr lang="en-US" dirty="0"/>
              <a:t>Activity-Oriented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BF0D8-A4CE-48E2-A77A-BF11FE429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Process-Oriented Simulation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Models the system as a collection of </a:t>
            </a:r>
            <a:r>
              <a:rPr lang="en-US" b="1" dirty="0"/>
              <a:t>active processes (entities)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entity follows a </a:t>
            </a:r>
            <a:r>
              <a:rPr lang="en-US" b="1" dirty="0"/>
              <a:t>life cycle</a:t>
            </a:r>
            <a:r>
              <a:rPr lang="en-US" dirty="0"/>
              <a:t> or process flow.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 is on </a:t>
            </a:r>
            <a:r>
              <a:rPr lang="en-US" b="1" dirty="0"/>
              <a:t>what happens to an entity over time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Example: A customer in a bank: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Arrives → waits → gets service → leaves</a:t>
            </a:r>
          </a:p>
          <a:p>
            <a:pPr marL="0" indent="0">
              <a:buNone/>
            </a:pPr>
            <a:r>
              <a:rPr lang="en-US" b="1" dirty="0"/>
              <a:t>Event-Oriented Simulation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Models the system as a sequence of </a:t>
            </a:r>
            <a:r>
              <a:rPr lang="en-US" b="1" dirty="0"/>
              <a:t>events that change system state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 is on </a:t>
            </a:r>
            <a:r>
              <a:rPr lang="en-US" b="1" dirty="0"/>
              <a:t>what happens to the system at specific time points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Event 1: Customer arrives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Event 2: Service begins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Event 3: Service ends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5466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689E2-85C7-47BB-9A9C-8C9F6224A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299F2-96F3-40A3-874A-BAC992EE4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Activity-Oriented Simulation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Models the system in terms of </a:t>
            </a:r>
            <a:r>
              <a:rPr lang="en-US" b="1" dirty="0"/>
              <a:t>activities (operations)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Focus: </a:t>
            </a:r>
            <a:r>
              <a:rPr lang="en-US" i="1" dirty="0"/>
              <a:t>What operation is being performed?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activity has: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Preconditions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Duration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Resulting state change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9730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D226C-6399-4357-9BC1-4AFD4F9DE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Comparison: Perspective of Modeling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C689A-4965-4FC9-B4EA-4D584FA3C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213" y="1457325"/>
            <a:ext cx="10796587" cy="47196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Process-Oriented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Entity-centric view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entity is treated as an independent process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system evolves through </a:t>
            </a:r>
            <a:r>
              <a:rPr lang="en-US" b="1" dirty="0"/>
              <a:t>interactions of processes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/>
              <a:t>Event-Oriented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System-centric view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 on global system state changes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Events drive the evolution of the system</a:t>
            </a:r>
          </a:p>
          <a:p>
            <a:pPr marL="0" indent="0">
              <a:buNone/>
            </a:pPr>
            <a:r>
              <a:rPr lang="en-US" b="1" dirty="0"/>
              <a:t>Activity-Oriented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Operation centric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Activity → focuses on </a:t>
            </a:r>
            <a:r>
              <a:rPr lang="en-US" b="1" dirty="0"/>
              <a:t>tasks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8106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554EC-F68F-4E3F-84E6-727F8C0FA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65722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Comparison: Handling of Events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A24A8-EA42-4302-9159-8D31CC7BC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4426"/>
            <a:ext cx="10515600" cy="57435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Process-Oriented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Events are </a:t>
            </a:r>
            <a:r>
              <a:rPr lang="en-US" b="1" dirty="0"/>
              <a:t>implicit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simulation engine automatically: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Generates events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Schedules them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Executes them </a:t>
            </a:r>
          </a:p>
          <a:p>
            <a:pPr marL="0" indent="0">
              <a:buNone/>
            </a:pPr>
            <a:r>
              <a:rPr lang="en-US" b="1" dirty="0"/>
              <a:t>Event-Oriented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Events are </a:t>
            </a:r>
            <a:r>
              <a:rPr lang="en-US" b="1" dirty="0"/>
              <a:t>explicit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Programmer must: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Define events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Maintain </a:t>
            </a:r>
            <a:r>
              <a:rPr lang="en-US" b="1" dirty="0"/>
              <a:t>Future Event List (FEL)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Schedule and execute events manually</a:t>
            </a:r>
          </a:p>
          <a:p>
            <a:pPr marL="0" indent="0">
              <a:buNone/>
            </a:pPr>
            <a:r>
              <a:rPr lang="en-US" b="1" dirty="0"/>
              <a:t>Activity-Oriented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Events are </a:t>
            </a:r>
            <a:r>
              <a:rPr lang="en-US" b="1" dirty="0"/>
              <a:t>implicit</a:t>
            </a:r>
            <a:r>
              <a:rPr lang="en-US" dirty="0"/>
              <a:t>  (via Activity Completion)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2975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019DB-09EE-41EF-80C6-86A4A4D18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07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Comparison: Representation of Time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30514-DF73-49C0-AF59-B129B70B4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5888"/>
            <a:ext cx="10515600" cy="47910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Process-Oriented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Time advancement is </a:t>
            </a:r>
            <a:r>
              <a:rPr lang="en-US" b="1" dirty="0"/>
              <a:t>hidden from the user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Simulation engine controls clock progression automatically </a:t>
            </a:r>
          </a:p>
          <a:p>
            <a:pPr marL="0" indent="0">
              <a:buNone/>
            </a:pPr>
            <a:r>
              <a:rPr lang="en-US" b="1" dirty="0"/>
              <a:t>Event-Oriented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Time advancement is </a:t>
            </a:r>
            <a:r>
              <a:rPr lang="en-US" b="1" dirty="0"/>
              <a:t>explicitly controlled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Simulation clock jumps to the next event time </a:t>
            </a:r>
          </a:p>
          <a:p>
            <a:pPr marL="0" indent="0">
              <a:buNone/>
            </a:pPr>
            <a:r>
              <a:rPr lang="en-US" b="1" dirty="0"/>
              <a:t>Activity-Oriented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Time advances to the </a:t>
            </a:r>
            <a:r>
              <a:rPr lang="en-US" b="1" dirty="0"/>
              <a:t>completion of the next activity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7558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0C70B-75C0-4BA4-933B-F9744859B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438"/>
          </a:xfrm>
        </p:spPr>
        <p:txBody>
          <a:bodyPr/>
          <a:lstStyle/>
          <a:p>
            <a:r>
              <a:rPr lang="en-US" b="1" dirty="0"/>
              <a:t>Comparison: Programming Complexity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E6D6C-6989-4609-A8C1-AA7D4040B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200150"/>
            <a:ext cx="10953750" cy="497681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Process-Oriented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Easier to implement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Code resembles real-world processes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intuitive for beginners </a:t>
            </a:r>
          </a:p>
          <a:p>
            <a:pPr marL="0" indent="0">
              <a:buNone/>
            </a:pPr>
            <a:r>
              <a:rPr lang="en-US" b="1" dirty="0"/>
              <a:t>Event-Oriented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complex to implement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Event scheduling logic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State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Suitable for advanced users</a:t>
            </a:r>
          </a:p>
          <a:p>
            <a:pPr marL="0" indent="0">
              <a:buNone/>
            </a:pPr>
            <a:r>
              <a:rPr lang="en-US" b="1" dirty="0"/>
              <a:t>Activity-Oriented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Moderate complexity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Condition evaluation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Activity scheduling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9495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7BD0D-7EC1-4B17-B0ED-957A2B53B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3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Comparison: Level of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30114-583A-4E35-AD92-68172F830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738"/>
            <a:ext cx="10515600" cy="5286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Activity -Oriented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Moderate control over activity scheduling 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Process-Oriented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Limited direct control over event scheduling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Relies on simulation engine </a:t>
            </a:r>
          </a:p>
          <a:p>
            <a:pPr marL="0" indent="0">
              <a:buNone/>
            </a:pPr>
            <a:r>
              <a:rPr lang="en-US" b="1" dirty="0"/>
              <a:t>Event-Oriented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Full control over: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Event timing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Event priority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System behavior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8605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A3CFD-2D7C-4C6D-B856-0881D45E8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Comparison: Transparency and Debugging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D84E3-3CCC-4947-8740-3835092A1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Activity-Oriented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Moderate transparency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Activities visible, but interactions can be complex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Process-Oriented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Less transparent (events are hidden)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Debugging can be harder due to abstraction </a:t>
            </a:r>
          </a:p>
          <a:p>
            <a:pPr marL="0" indent="0">
              <a:buNone/>
            </a:pPr>
            <a:r>
              <a:rPr lang="en-US" b="1" dirty="0"/>
              <a:t>Event-Oriented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Highly transparent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Every event is visible and controllable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Easier to trace system behavior step-by-step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6356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34730-F11A-4F44-99CB-5615BADFA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7888"/>
          </a:xfrm>
        </p:spPr>
        <p:txBody>
          <a:bodyPr/>
          <a:lstStyle/>
          <a:p>
            <a:r>
              <a:rPr lang="en-US" b="1" dirty="0"/>
              <a:t>Comparison: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A3FDC-9A41-4BE2-8F82-07319224B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243014"/>
            <a:ext cx="10868025" cy="5614985"/>
          </a:xfrm>
        </p:spPr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Process-Oriented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Customer Process:</a:t>
            </a:r>
            <a:br>
              <a:rPr kumimoji="0" lang="en-US" altLang="en-US" sz="7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7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Arrive</a:t>
            </a:r>
            <a:br>
              <a:rPr kumimoji="0" lang="en-US" altLang="en-US" sz="7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7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Wait if needed</a:t>
            </a:r>
            <a:br>
              <a:rPr kumimoji="0" lang="en-US" altLang="en-US" sz="7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7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Get service</a:t>
            </a:r>
            <a:br>
              <a:rPr kumimoji="0" lang="en-US" altLang="en-US" sz="7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7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Leave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Event-Oriented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Event: Arrival → schedule service or queue</a:t>
            </a:r>
            <a:br>
              <a:rPr kumimoji="0" lang="en-US" altLang="en-US" sz="7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7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Event: Departure → serve next customer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Activity-Oriented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Activity: Service</a:t>
            </a:r>
            <a:br>
              <a:rPr kumimoji="0" lang="en-US" altLang="en-US" sz="7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7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Condition: Server free + customer waiting</a:t>
            </a:r>
            <a:br>
              <a:rPr kumimoji="0" lang="en-US" altLang="en-US" sz="7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7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Duration: Service time</a:t>
            </a:r>
            <a:br>
              <a:rPr kumimoji="0" lang="en-US" altLang="en-US" sz="7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7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Result: Customer served</a:t>
            </a:r>
            <a:br>
              <a:rPr kumimoji="0" lang="en-US" altLang="en-US" sz="7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74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Same system, but: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7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Process-oriented =  </a:t>
            </a:r>
            <a:r>
              <a:rPr lang="en-US" altLang="en-US" sz="7400" b="1" dirty="0"/>
              <a:t>S</a:t>
            </a:r>
            <a:r>
              <a:rPr kumimoji="0" lang="en-US" altLang="en-US" sz="7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tory of customer</a:t>
            </a:r>
            <a:r>
              <a:rPr kumimoji="0" lang="en-US" altLang="en-US" sz="7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7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Event-oriented =     </a:t>
            </a:r>
            <a:r>
              <a:rPr lang="en-US" altLang="en-US" sz="7400" b="1" dirty="0"/>
              <a:t>T</a:t>
            </a:r>
            <a:r>
              <a:rPr kumimoji="0" lang="en-US" altLang="en-US" sz="7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imeline of events</a:t>
            </a:r>
            <a:r>
              <a:rPr kumimoji="0" lang="en-US" altLang="en-US" sz="7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7400" dirty="0"/>
              <a:t>Activity-Oriented = </a:t>
            </a:r>
            <a:r>
              <a:rPr lang="en-US" sz="7400" b="1" dirty="0"/>
              <a:t>Tasks being performed</a:t>
            </a:r>
            <a:endParaRPr kumimoji="0" lang="en-US" altLang="en-US" sz="7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257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261</TotalTime>
  <Words>1836</Words>
  <Application>Microsoft Office PowerPoint</Application>
  <PresentationFormat>Widescreen</PresentationFormat>
  <Paragraphs>370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Calibri Light</vt:lpstr>
      <vt:lpstr>Office Theme</vt:lpstr>
      <vt:lpstr>IT-3016 Simulation and Modelling</vt:lpstr>
      <vt:lpstr>Model Building</vt:lpstr>
      <vt:lpstr>Model Building</vt:lpstr>
      <vt:lpstr>Model Building</vt:lpstr>
      <vt:lpstr>Simulation Systems </vt:lpstr>
      <vt:lpstr>Simulation Systems</vt:lpstr>
      <vt:lpstr>Simulation Languages</vt:lpstr>
      <vt:lpstr>Simulation Languages</vt:lpstr>
      <vt:lpstr>Key Concepts in Simulation </vt:lpstr>
      <vt:lpstr>PowerPoint Presentation</vt:lpstr>
      <vt:lpstr>Event Oriented Languages for Simulation </vt:lpstr>
      <vt:lpstr>Characteristics of Event-Oriented Languages</vt:lpstr>
      <vt:lpstr>Event Scheduling Approach </vt:lpstr>
      <vt:lpstr>Event Scheduling Approach - pseudocode</vt:lpstr>
      <vt:lpstr>Time Advance Mechanisms </vt:lpstr>
      <vt:lpstr>Random Number Generation </vt:lpstr>
      <vt:lpstr>Relationship Between Queuing Models and Discrete Simulation </vt:lpstr>
      <vt:lpstr>Event Oriented Languages</vt:lpstr>
      <vt:lpstr>Applications </vt:lpstr>
      <vt:lpstr>Process-Oriented Languages for Simulation</vt:lpstr>
      <vt:lpstr>Process-Oriented Languages for Simulation</vt:lpstr>
      <vt:lpstr>Process Interaction Mechanism </vt:lpstr>
      <vt:lpstr>Life Cycle of an Entity (Process Flow)</vt:lpstr>
      <vt:lpstr>Simulation Logic (Process-Oriented) </vt:lpstr>
      <vt:lpstr>Pseudocode (Process-Oriented) -Bank System</vt:lpstr>
      <vt:lpstr>Major Process-Oriented Simulation Languages</vt:lpstr>
      <vt:lpstr>Activity-Oriented Languages for Simulation</vt:lpstr>
      <vt:lpstr>Activity-Oriented Languages for Simulation</vt:lpstr>
      <vt:lpstr>Activity Definition </vt:lpstr>
      <vt:lpstr>Simulation Logic (Activity-Oriented) </vt:lpstr>
      <vt:lpstr>Pseudocode(Activity-Oriented)</vt:lpstr>
      <vt:lpstr>Comparison:  Process-Oriented vs Event-Oriented Simulation vs  Activity-Oriented</vt:lpstr>
      <vt:lpstr>Comparison:</vt:lpstr>
      <vt:lpstr>Comparison: Perspective of Modeling </vt:lpstr>
      <vt:lpstr>Comparison: Handling of Events</vt:lpstr>
      <vt:lpstr>Comparison: Representation of Time </vt:lpstr>
      <vt:lpstr>Comparison: Programming Complexity</vt:lpstr>
      <vt:lpstr>Comparison: Level of Control</vt:lpstr>
      <vt:lpstr>Comparison: Transparency and Debugging</vt:lpstr>
      <vt:lpstr>Comparison: 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IT-3016 Simulation and Modelling</dc:title>
  <dc:creator>Ateeqa Naseer</dc:creator>
  <cp:lastModifiedBy>Ateeqa Naseer</cp:lastModifiedBy>
  <cp:revision>38</cp:revision>
  <dcterms:created xsi:type="dcterms:W3CDTF">2026-04-01T06:23:31Z</dcterms:created>
  <dcterms:modified xsi:type="dcterms:W3CDTF">2026-04-15T05:09:00Z</dcterms:modified>
</cp:coreProperties>
</file>